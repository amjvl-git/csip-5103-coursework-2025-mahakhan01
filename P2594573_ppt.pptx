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DA35A-72A4-8244-7710-AE63F56937F5}" v="482" dt="2025-11-05T16:30:48.100"/>
    <p1510:client id="{3DCBD427-DCFC-F7D9-0AC9-7AED72663B52}" v="565" dt="2025-11-05T16:10:07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ea typeface="+mj-lt"/>
                <a:cs typeface="+mj-lt"/>
              </a:rPr>
              <a:t>A Neural Network Model for Fashion-MNIST Image Classification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By Maha Khan</a:t>
            </a:r>
          </a:p>
          <a:p>
            <a:r>
              <a:rPr lang="en-GB" dirty="0"/>
              <a:t>(p2594573)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C9FD-4EF1-4CA8-75F4-0A0AE5D5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B3048-C23A-DF4C-5EF5-001429DF0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Image classification is one of the central task in ML and CV</a:t>
            </a:r>
          </a:p>
          <a:p>
            <a:r>
              <a:rPr lang="en-GB" dirty="0"/>
              <a:t>Classical ANN usually struggles with spatial dependencies in data image</a:t>
            </a:r>
          </a:p>
          <a:p>
            <a:r>
              <a:rPr lang="en-GB" dirty="0"/>
              <a:t>CNN have convolution and weigh sharing that make model spatial structure effective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To evaluate which one is better we will experiment with Fashion MNIST dataset.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58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205A-9FD5-9644-C45E-A3498304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7790-D9CB-FF2B-3EB9-20A96677C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Implement and compare ANN(Artificial Neural Networks and CNN (Convolutional Neural Networks):</a:t>
            </a:r>
          </a:p>
          <a:p>
            <a:r>
              <a:rPr lang="en-GB" dirty="0"/>
              <a:t>Design + implement neural network model for ANN + CNN</a:t>
            </a:r>
          </a:p>
          <a:p>
            <a:r>
              <a:rPr lang="en-GB" dirty="0"/>
              <a:t>Train + validate</a:t>
            </a:r>
          </a:p>
          <a:p>
            <a:r>
              <a:rPr lang="en-GB" dirty="0"/>
              <a:t>Compare accuracy, learn behaviour + generalisation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089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6E07-0C80-8BCD-F2BE-711214CA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24514-DC87-3092-2A8B-FC5C98BC7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Framework + Tools:</a:t>
            </a:r>
            <a:endParaRPr lang="en-US" dirty="0"/>
          </a:p>
          <a:p>
            <a:r>
              <a:rPr lang="en-GB" dirty="0" err="1"/>
              <a:t>Implementtion</a:t>
            </a:r>
            <a:r>
              <a:rPr lang="en-GB" dirty="0"/>
              <a:t>: Python using </a:t>
            </a:r>
            <a:r>
              <a:rPr lang="en-GB" dirty="0" err="1"/>
              <a:t>PyTorch</a:t>
            </a:r>
          </a:p>
          <a:p>
            <a:r>
              <a:rPr lang="en-GB" dirty="0" err="1"/>
              <a:t>Torchvision</a:t>
            </a:r>
            <a:r>
              <a:rPr lang="en-GB" dirty="0"/>
              <a:t> for dataset and </a:t>
            </a:r>
            <a:r>
              <a:rPr lang="en-GB" dirty="0" err="1"/>
              <a:t>tranforms</a:t>
            </a:r>
            <a:r>
              <a:rPr lang="en-GB" dirty="0"/>
              <a:t>, scikit  learn for metric and </a:t>
            </a:r>
            <a:r>
              <a:rPr lang="en-GB" dirty="0" err="1"/>
              <a:t>Matpotlib</a:t>
            </a:r>
            <a:r>
              <a:rPr lang="en-GB" dirty="0"/>
              <a:t> for plots.</a:t>
            </a:r>
          </a:p>
          <a:p>
            <a:endParaRPr lang="en-GB" dirty="0"/>
          </a:p>
          <a:p>
            <a:r>
              <a:rPr lang="en-GB" err="1"/>
              <a:t>Approch</a:t>
            </a:r>
            <a:r>
              <a:rPr lang="en-GB" dirty="0"/>
              <a:t>:</a:t>
            </a:r>
          </a:p>
          <a:p>
            <a:r>
              <a:rPr lang="en-GB" dirty="0"/>
              <a:t>Divide data: 90 percent for training and 10 percent for validation testing.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71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DFA9-C830-6634-3616-A67BC909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/ Material /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6228-8F1E-0BBF-1BBB-713343FDB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Dataset:</a:t>
            </a:r>
          </a:p>
          <a:p>
            <a:r>
              <a:rPr lang="en-GB" dirty="0"/>
              <a:t>60,00 training and 10,000 test grayscale images 28 x 28 pixels.</a:t>
            </a:r>
          </a:p>
          <a:p>
            <a:r>
              <a:rPr lang="en-GB" dirty="0"/>
              <a:t>10 classifications: t shirts/tops, trousers, pullover, dress, coat, sandal, shirt, sneaker, bag, ankle boot</a:t>
            </a:r>
          </a:p>
          <a:p>
            <a:endParaRPr lang="en-GB" dirty="0"/>
          </a:p>
          <a:p>
            <a:r>
              <a:rPr lang="en-GB" dirty="0"/>
              <a:t>Parameter:</a:t>
            </a:r>
          </a:p>
          <a:p>
            <a:r>
              <a:rPr lang="en-GB" dirty="0"/>
              <a:t>Batch size: 128</a:t>
            </a:r>
          </a:p>
          <a:p>
            <a:r>
              <a:rPr lang="en-GB" dirty="0"/>
              <a:t>Epochs: 20</a:t>
            </a:r>
          </a:p>
          <a:p>
            <a:r>
              <a:rPr lang="en-GB" dirty="0"/>
              <a:t>Patience: 5 early - stopping</a:t>
            </a:r>
          </a:p>
        </p:txBody>
      </p:sp>
    </p:spTree>
    <p:extLst>
      <p:ext uri="{BB962C8B-B14F-4D97-AF65-F5344CB8AC3E}">
        <p14:creationId xmlns:p14="http://schemas.microsoft.com/office/powerpoint/2010/main" val="70512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804A6-DAB8-4B91-1689-95D550C6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A12D1-C12E-4194-8015-679804D5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ANN:</a:t>
            </a:r>
            <a:endParaRPr lang="en-US" dirty="0"/>
          </a:p>
          <a:p>
            <a:r>
              <a:rPr lang="en-GB" dirty="0"/>
              <a:t>2 HIDDEN LAYERS: 256 -&gt; 128 neurons</a:t>
            </a:r>
          </a:p>
          <a:p>
            <a:r>
              <a:rPr lang="en-GB" dirty="0"/>
              <a:t>200k parameters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CNN:</a:t>
            </a:r>
          </a:p>
          <a:p>
            <a:r>
              <a:rPr lang="en-GB" dirty="0"/>
              <a:t>Conv 1x28x28 -&gt; 32 -&gt; 64 -&gt; 128 filters + batch norm + </a:t>
            </a:r>
            <a:r>
              <a:rPr lang="en-GB" dirty="0" err="1"/>
              <a:t>maxpool</a:t>
            </a:r>
          </a:p>
          <a:p>
            <a:r>
              <a:rPr lang="en-GB" dirty="0"/>
              <a:t>1.2 M parameters</a:t>
            </a:r>
          </a:p>
          <a:p>
            <a:endParaRPr lang="en-GB" dirty="0"/>
          </a:p>
          <a:p>
            <a:r>
              <a:rPr lang="en-GB" dirty="0">
                <a:ea typeface="+mn-lt"/>
                <a:cs typeface="+mn-lt"/>
              </a:rPr>
              <a:t>raining Process</a:t>
            </a:r>
          </a:p>
          <a:p>
            <a:r>
              <a:rPr lang="en-GB" dirty="0" err="1">
                <a:ea typeface="+mn-lt"/>
                <a:cs typeface="+mn-lt"/>
              </a:rPr>
              <a:t>AdamW</a:t>
            </a:r>
            <a:r>
              <a:rPr lang="en-GB" dirty="0">
                <a:ea typeface="+mn-lt"/>
                <a:cs typeface="+mn-lt"/>
              </a:rPr>
              <a:t> (</a:t>
            </a:r>
            <a:r>
              <a:rPr lang="en-GB" dirty="0" err="1">
                <a:ea typeface="+mn-lt"/>
                <a:cs typeface="+mn-lt"/>
              </a:rPr>
              <a:t>lr</a:t>
            </a:r>
            <a:r>
              <a:rPr lang="en-GB" dirty="0">
                <a:ea typeface="+mn-lt"/>
                <a:cs typeface="+mn-lt"/>
              </a:rPr>
              <a:t> = 3 × 10⁻⁴, weight decay = 3 × 10⁻⁴)</a:t>
            </a:r>
            <a:endParaRPr lang="en-GB" dirty="0"/>
          </a:p>
          <a:p>
            <a:endParaRPr lang="en-GB" dirty="0"/>
          </a:p>
          <a:p>
            <a:r>
              <a:rPr lang="en-GB" dirty="0"/>
              <a:t>Load -&gt; Train -&gt; Validate -&gt; Test -&gt; Evaluate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70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FA32-9A4D-D6DD-B577-F617FC80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DFB52D9-2F8A-7160-A723-DFA486F34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816703"/>
              </p:ext>
            </p:extLst>
          </p:nvPr>
        </p:nvGraphicFramePr>
        <p:xfrm>
          <a:off x="1020792" y="1696528"/>
          <a:ext cx="6729740" cy="13629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82435">
                  <a:extLst>
                    <a:ext uri="{9D8B030D-6E8A-4147-A177-3AD203B41FA5}">
                      <a16:colId xmlns:a16="http://schemas.microsoft.com/office/drawing/2014/main" val="4163397734"/>
                    </a:ext>
                  </a:extLst>
                </a:gridCol>
                <a:gridCol w="1682435">
                  <a:extLst>
                    <a:ext uri="{9D8B030D-6E8A-4147-A177-3AD203B41FA5}">
                      <a16:colId xmlns:a16="http://schemas.microsoft.com/office/drawing/2014/main" val="2150428264"/>
                    </a:ext>
                  </a:extLst>
                </a:gridCol>
                <a:gridCol w="1682435">
                  <a:extLst>
                    <a:ext uri="{9D8B030D-6E8A-4147-A177-3AD203B41FA5}">
                      <a16:colId xmlns:a16="http://schemas.microsoft.com/office/drawing/2014/main" val="3486155529"/>
                    </a:ext>
                  </a:extLst>
                </a:gridCol>
                <a:gridCol w="1682435">
                  <a:extLst>
                    <a:ext uri="{9D8B030D-6E8A-4147-A177-3AD203B41FA5}">
                      <a16:colId xmlns:a16="http://schemas.microsoft.com/office/drawing/2014/main" val="9480552"/>
                    </a:ext>
                  </a:extLst>
                </a:gridCol>
              </a:tblGrid>
              <a:tr h="45433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1" i="0" dirty="0">
                          <a:effectLst/>
                          <a:latin typeface="Aptos"/>
                        </a:rPr>
                        <a:t>Model</a:t>
                      </a:r>
                      <a:r>
                        <a:rPr lang="en-GB" sz="2000" b="0" i="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1" i="0" dirty="0">
                          <a:effectLst/>
                          <a:latin typeface="Aptos"/>
                        </a:rPr>
                        <a:t>Parameters</a:t>
                      </a:r>
                      <a:r>
                        <a:rPr lang="en-GB" sz="2000" b="0" i="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1" i="0" dirty="0">
                          <a:effectLst/>
                          <a:latin typeface="Aptos"/>
                        </a:rPr>
                        <a:t>Test Accuracy</a:t>
                      </a:r>
                      <a:r>
                        <a:rPr lang="en-GB" sz="2000" b="0" i="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1" i="0" dirty="0">
                          <a:effectLst/>
                          <a:latin typeface="Aptos"/>
                        </a:rPr>
                        <a:t>Test Loss</a:t>
                      </a:r>
                      <a:r>
                        <a:rPr lang="en-GB" sz="2000" b="0" i="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314591"/>
                  </a:ext>
                </a:extLst>
              </a:tr>
              <a:tr h="45433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ANN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200 k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88.97 %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0.5609 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886894"/>
                  </a:ext>
                </a:extLst>
              </a:tr>
              <a:tr h="45433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CNN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1.2 M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91.85 %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GB" sz="2000" b="0" i="0" dirty="0">
                          <a:effectLst/>
                          <a:latin typeface="Aptos"/>
                        </a:rPr>
                        <a:t>0.5043 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4136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079FCE-BC82-9793-C601-F50236CD16B2}"/>
              </a:ext>
            </a:extLst>
          </p:cNvPr>
          <p:cNvSpPr txBox="1"/>
          <p:nvPr/>
        </p:nvSpPr>
        <p:spPr>
          <a:xfrm>
            <a:off x="244414" y="3434032"/>
            <a:ext cx="86868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2800" dirty="0"/>
              <a:t>CNN outperformed ANN by 3 percent accuracy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GB" sz="2800" dirty="0"/>
              <a:t>ANN faster but overfitted</a:t>
            </a:r>
          </a:p>
          <a:p>
            <a:pPr marL="457200" indent="-457200">
              <a:buFont typeface="Arial"/>
              <a:buChar char="•"/>
            </a:pPr>
            <a:r>
              <a:rPr lang="en-GB" sz="2800" dirty="0"/>
              <a:t>CNN generalised better  + smoother validation curves</a:t>
            </a:r>
          </a:p>
        </p:txBody>
      </p:sp>
      <p:pic>
        <p:nvPicPr>
          <p:cNvPr id="7" name="Picture 6" descr="A graph of a curve&#10;&#10;AI-generated content may be incorrect.">
            <a:extLst>
              <a:ext uri="{FF2B5EF4-FFF2-40B4-BE49-F238E27FC236}">
                <a16:creationId xmlns:a16="http://schemas.microsoft.com/office/drawing/2014/main" id="{027B3FC6-D863-3E18-2AD6-97E96C161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287" y="498804"/>
            <a:ext cx="4354183" cy="3157448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29F3C125-6018-2B16-695F-291B6C93B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69" y="3642953"/>
            <a:ext cx="3990256" cy="313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406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187C-183F-4B65-6B68-B1D83797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A93A8-C547-D382-EB4C-F345C792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CNN capture the edges texture and spatial </a:t>
            </a:r>
            <a:r>
              <a:rPr lang="en-GB" dirty="0" err="1"/>
              <a:t>heriarchies</a:t>
            </a:r>
            <a:r>
              <a:rPr lang="en-GB" dirty="0"/>
              <a:t> -&gt; superior accuracy</a:t>
            </a:r>
          </a:p>
          <a:p>
            <a:r>
              <a:rPr lang="en-GB" dirty="0"/>
              <a:t>ANN lack spatial bias -&gt; struggle with identifying similar items</a:t>
            </a:r>
          </a:p>
          <a:p>
            <a:r>
              <a:rPr lang="en-GB" dirty="0"/>
              <a:t>Misclassification between shirt and coat</a:t>
            </a:r>
          </a:p>
          <a:p>
            <a:r>
              <a:rPr lang="en-GB" dirty="0"/>
              <a:t>Near perfect classification for sneaker, sandal, bag</a:t>
            </a:r>
          </a:p>
        </p:txBody>
      </p:sp>
    </p:spTree>
    <p:extLst>
      <p:ext uri="{BB962C8B-B14F-4D97-AF65-F5344CB8AC3E}">
        <p14:creationId xmlns:p14="http://schemas.microsoft.com/office/powerpoint/2010/main" val="411784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0975-B7AC-2389-E606-3A796580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F2318-FD3B-F5F4-A367-A91957F4E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06" y="169622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Both models show success</a:t>
            </a:r>
            <a:endParaRPr lang="en-US" dirty="0"/>
          </a:p>
          <a:p>
            <a:r>
              <a:rPr lang="en-GB" dirty="0"/>
              <a:t>CNN achieves 91.85% versus </a:t>
            </a:r>
          </a:p>
          <a:p>
            <a:pPr marL="0" indent="0">
              <a:buNone/>
            </a:pPr>
            <a:r>
              <a:rPr lang="en-GB" dirty="0"/>
              <a:t>ANN 88.97 % </a:t>
            </a:r>
          </a:p>
          <a:p>
            <a:endParaRPr lang="en-GB" dirty="0"/>
          </a:p>
        </p:txBody>
      </p:sp>
      <p:pic>
        <p:nvPicPr>
          <p:cNvPr id="4" name="Picture 3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C8F77180-7259-E53F-D152-88475294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194" y="554428"/>
            <a:ext cx="7092921" cy="59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A222-651C-62E0-20CE-781E7B9F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Thank you!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D590A1-BE57-5247-333B-02F2F950D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07" y="1848307"/>
            <a:ext cx="6151584" cy="427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7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 Neural Network Model for Fashion-MNIST Image Classification </vt:lpstr>
      <vt:lpstr>Introduction and Background</vt:lpstr>
      <vt:lpstr>The Aims</vt:lpstr>
      <vt:lpstr>Methodology</vt:lpstr>
      <vt:lpstr>Data / Material / Inputs</vt:lpstr>
      <vt:lpstr>Implementation</vt:lpstr>
      <vt:lpstr>Result</vt:lpstr>
      <vt:lpstr>Discussion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241</cp:revision>
  <dcterms:created xsi:type="dcterms:W3CDTF">2025-11-05T15:37:54Z</dcterms:created>
  <dcterms:modified xsi:type="dcterms:W3CDTF">2025-11-05T16:31:35Z</dcterms:modified>
</cp:coreProperties>
</file>